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Open Sans Medium" panose="020B0604020202020204" charset="0"/>
      <p:regular r:id="rId13"/>
    </p:embeddedFont>
    <p:embeddedFont>
      <p:font typeface="Poppins" panose="00000500000000000000" pitchFamily="2" charset="0"/>
      <p:regular r:id="rId14"/>
      <p:bold r:id="rId15"/>
      <p:italic r:id="rId16"/>
      <p:boldItalic r:id="rId17"/>
    </p:embeddedFont>
    <p:embeddedFont>
      <p:font typeface="Poppins Medium" panose="00000600000000000000" pitchFamily="2" charset="0"/>
      <p:regular r:id="rId18"/>
    </p:embeddedFont>
    <p:embeddedFont>
      <p:font typeface="Poppins Semi-Bold" panose="020B0604020202020204" charset="0"/>
      <p:regular r:id="rId19"/>
    </p:embeddedFont>
    <p:embeddedFont>
      <p:font typeface="Poppins Ultra-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8150713" cy="10287000"/>
            <a:chOff x="0" y="0"/>
            <a:chExt cx="437060" cy="55161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060" cy="551613"/>
            </a:xfrm>
            <a:custGeom>
              <a:avLst/>
              <a:gdLst/>
              <a:ahLst/>
              <a:cxnLst/>
              <a:rect l="l" t="t" r="r" b="b"/>
              <a:pathLst>
                <a:path w="437060" h="551613">
                  <a:moveTo>
                    <a:pt x="0" y="0"/>
                  </a:moveTo>
                  <a:lnTo>
                    <a:pt x="437060" y="0"/>
                  </a:lnTo>
                  <a:lnTo>
                    <a:pt x="437060" y="551613"/>
                  </a:lnTo>
                  <a:lnTo>
                    <a:pt x="0" y="551613"/>
                  </a:lnTo>
                  <a:close/>
                </a:path>
              </a:pathLst>
            </a:custGeom>
            <a:solidFill>
              <a:srgbClr val="2A1E15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8150713" cy="10287000"/>
            <a:chOff x="0" y="0"/>
            <a:chExt cx="437060" cy="55161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7060" cy="551613"/>
            </a:xfrm>
            <a:custGeom>
              <a:avLst/>
              <a:gdLst/>
              <a:ahLst/>
              <a:cxnLst/>
              <a:rect l="l" t="t" r="r" b="b"/>
              <a:pathLst>
                <a:path w="437060" h="551613">
                  <a:moveTo>
                    <a:pt x="0" y="0"/>
                  </a:moveTo>
                  <a:lnTo>
                    <a:pt x="437060" y="0"/>
                  </a:lnTo>
                  <a:lnTo>
                    <a:pt x="437060" y="551613"/>
                  </a:lnTo>
                  <a:lnTo>
                    <a:pt x="0" y="551613"/>
                  </a:lnTo>
                  <a:close/>
                </a:path>
              </a:pathLst>
            </a:custGeom>
            <a:blipFill>
              <a:blip r:embed="rId2">
                <a:alphaModFix amt="40000"/>
              </a:blip>
              <a:stretch>
                <a:fillRect l="-1036" r="-103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895176" y="3353401"/>
            <a:ext cx="497648" cy="497648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578645" y="3755774"/>
            <a:ext cx="8791636" cy="19543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7482"/>
              </a:lnSpc>
            </a:pPr>
            <a:r>
              <a:rPr lang="en-US" sz="6621" b="1" spc="132" dirty="0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REAL-TIME FACE DETECTION</a:t>
            </a:r>
          </a:p>
        </p:txBody>
      </p:sp>
      <p:sp>
        <p:nvSpPr>
          <p:cNvPr id="10" name="TextBox 10"/>
          <p:cNvSpPr txBox="1"/>
          <p:nvPr/>
        </p:nvSpPr>
        <p:spPr>
          <a:xfrm rot="5400000">
            <a:off x="-2291538" y="4637816"/>
            <a:ext cx="8725685" cy="1011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482"/>
              </a:lnSpc>
            </a:pPr>
            <a:r>
              <a:rPr lang="en-US" sz="6621" b="1" spc="132">
                <a:solidFill>
                  <a:srgbClr val="D9BF9B">
                    <a:alpha val="47843"/>
                  </a:srgbClr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OPENCV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45877" y="5710117"/>
            <a:ext cx="6702281" cy="5478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831"/>
              </a:lnSpc>
            </a:pPr>
            <a:r>
              <a:rPr lang="en-US" sz="2400" spc="85" dirty="0">
                <a:solidFill>
                  <a:srgbClr val="3B2A20"/>
                </a:solidFill>
                <a:latin typeface="Poppins"/>
                <a:ea typeface="Poppins"/>
                <a:cs typeface="Poppins"/>
                <a:sym typeface="Poppins"/>
              </a:rPr>
              <a:t>          PYTHON PROJECT DEMONSTRATION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7200" y="8412659"/>
            <a:ext cx="4700016" cy="339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2418"/>
              </a:lnSpc>
            </a:pPr>
            <a:r>
              <a:rPr lang="en-US" sz="3200" b="1" spc="177" dirty="0">
                <a:solidFill>
                  <a:srgbClr val="6B5543"/>
                </a:solidFill>
                <a:latin typeface="+mj-lt"/>
                <a:ea typeface="Rubik Light"/>
                <a:cs typeface="Rubik Light"/>
                <a:sym typeface="Rubik Light"/>
              </a:rPr>
              <a:t>Swathi Priya </a:t>
            </a:r>
            <a:r>
              <a:rPr lang="en-US" sz="3200" b="1" spc="177" dirty="0" err="1">
                <a:solidFill>
                  <a:srgbClr val="6B5543"/>
                </a:solidFill>
                <a:latin typeface="+mj-lt"/>
                <a:ea typeface="Rubik Light"/>
                <a:cs typeface="Rubik Light"/>
                <a:sym typeface="Rubik Light"/>
              </a:rPr>
              <a:t>Kondeti</a:t>
            </a:r>
            <a:endParaRPr lang="en-US" sz="3200" b="1" spc="177" dirty="0">
              <a:solidFill>
                <a:srgbClr val="6B5543"/>
              </a:solidFill>
              <a:latin typeface="+mj-lt"/>
              <a:ea typeface="Rubik Light"/>
              <a:cs typeface="Rubik Light"/>
              <a:sym typeface="Rubik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66738" y="1028700"/>
            <a:ext cx="6675228" cy="6462370"/>
            <a:chOff x="0" y="0"/>
            <a:chExt cx="6496901" cy="6289730"/>
          </a:xfrm>
        </p:grpSpPr>
        <p:sp>
          <p:nvSpPr>
            <p:cNvPr id="3" name="Freeform 3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105986" y="746344"/>
            <a:ext cx="6559091" cy="6349937"/>
            <a:chOff x="0" y="0"/>
            <a:chExt cx="6496901" cy="6289730"/>
          </a:xfrm>
        </p:grpSpPr>
        <p:sp>
          <p:nvSpPr>
            <p:cNvPr id="5" name="Freeform 5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blipFill>
              <a:blip r:embed="rId2"/>
              <a:stretch>
                <a:fillRect t="-1482" b="-148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66921" y="4684024"/>
            <a:ext cx="537073" cy="537073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665077" y="1178500"/>
            <a:ext cx="537073" cy="53707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60095" y="3082728"/>
            <a:ext cx="8503920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6"/>
              </a:lnSpc>
            </a:pPr>
            <a:r>
              <a:rPr lang="en-US" sz="26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 project </a:t>
            </a:r>
            <a:r>
              <a:rPr lang="en-US" sz="28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implements</a:t>
            </a:r>
            <a:r>
              <a:rPr lang="en-US" sz="26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real-time face detection system in </a:t>
            </a:r>
            <a:r>
              <a:rPr lang="en-US" sz="28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Python</a:t>
            </a:r>
            <a:r>
              <a:rPr lang="en-US" sz="26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using OpenCV. It detects human faces from a live webcam feed and from static images.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5823" y="4952560"/>
            <a:ext cx="8349003" cy="7950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16"/>
              </a:lnSpc>
            </a:pPr>
            <a:r>
              <a:rPr lang="en-US" sz="28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 demonstrates core Computer Vision and image-processing fundamentals.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3098" y="1207075"/>
            <a:ext cx="7897914" cy="929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815"/>
              </a:lnSpc>
              <a:spcBef>
                <a:spcPct val="0"/>
              </a:spcBef>
            </a:pPr>
            <a:r>
              <a:rPr lang="en-US" sz="6031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Project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364259" y="1200262"/>
            <a:ext cx="7897914" cy="929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815"/>
              </a:lnSpc>
              <a:spcBef>
                <a:spcPct val="0"/>
              </a:spcBef>
            </a:pPr>
            <a:r>
              <a:rPr lang="en-US" sz="6031" b="1" dirty="0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495707" y="434340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Detects faces instantly from a live webcam feed or static images, with immediate visual feedback.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95707" y="361188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Real-Time Detection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95707" y="630936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Uses OpenCV's pre-trained Haar Cascade for fast, efficient and accurate face detection.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95707" y="557784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Haar Cascade Classifier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5707" y="827532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Clean, simple Python code that is ideal for learning computer vision fundamentals.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5707" y="754380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Beginner-Friendly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95707" y="1197550"/>
            <a:ext cx="9326880" cy="97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9"/>
              </a:lnSpc>
              <a:spcBef>
                <a:spcPct val="0"/>
              </a:spcBef>
            </a:pPr>
            <a:r>
              <a:rPr lang="en-US" sz="6335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Key Features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95707" y="2159873"/>
            <a:ext cx="9326880" cy="97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9"/>
              </a:lnSpc>
              <a:spcBef>
                <a:spcPct val="0"/>
              </a:spcBef>
            </a:pPr>
            <a:r>
              <a:rPr lang="en-US" sz="6335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of the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66738" y="1028700"/>
            <a:ext cx="6675228" cy="6462370"/>
            <a:chOff x="0" y="0"/>
            <a:chExt cx="6496901" cy="6289730"/>
          </a:xfrm>
        </p:grpSpPr>
        <p:sp>
          <p:nvSpPr>
            <p:cNvPr id="3" name="Freeform 3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105986" y="746344"/>
            <a:ext cx="6559091" cy="6349937"/>
            <a:chOff x="0" y="0"/>
            <a:chExt cx="6496901" cy="6289730"/>
          </a:xfrm>
        </p:grpSpPr>
        <p:sp>
          <p:nvSpPr>
            <p:cNvPr id="5" name="Freeform 5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blipFill>
              <a:blip r:embed="rId2"/>
              <a:stretch>
                <a:fillRect t="-1482" b="-148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66921" y="4684024"/>
            <a:ext cx="537073" cy="537073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665077" y="1178500"/>
            <a:ext cx="537073" cy="53707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130558" y="4785886"/>
            <a:ext cx="8503920" cy="1044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Python serves as the core programming language, while OpenCV provides powerful computer vision capabilities for image processing and face detection.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3352" y="7484247"/>
            <a:ext cx="8503920" cy="1044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NumPy provides essential numerical computing support, enabling efficient array operations and mathematical computations for image data.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13352" y="3942262"/>
            <a:ext cx="8503920" cy="55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8"/>
              </a:lnSpc>
            </a:pPr>
            <a:r>
              <a:rPr lang="en-US" sz="3300" b="1" dirty="0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Python &amp; OpenCV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3352" y="6529942"/>
            <a:ext cx="8503920" cy="55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8"/>
              </a:lnSpc>
            </a:pPr>
            <a:r>
              <a:rPr lang="en-US" sz="3300" b="1" dirty="0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NumPy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3098" y="1207075"/>
            <a:ext cx="7897914" cy="122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91"/>
              </a:lnSpc>
              <a:spcBef>
                <a:spcPct val="0"/>
              </a:spcBef>
            </a:pPr>
            <a:r>
              <a:rPr lang="en-US" sz="7956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Technologies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3098" y="2415650"/>
            <a:ext cx="7897914" cy="122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91"/>
              </a:lnSpc>
              <a:spcBef>
                <a:spcPct val="0"/>
              </a:spcBef>
            </a:pPr>
            <a:r>
              <a:rPr lang="en-US" sz="7956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Used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872999" y="434340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Capture input from webcam or load a static image, then convert it to grayscale for efficient processing.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72999" y="361188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Phase 1: Input Capture &amp; Preprocessing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72999" y="630936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Apply the Haar Cascade classifier algorithm to scan the grayscale image and detect facial regions.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72999" y="557784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Phase 2: Face Detection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72999" y="827532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Draw bounding rectangles around each detected face and display the processed output in real-time.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872999" y="754380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Phase 3: Output &amp; Display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872999" y="1178500"/>
            <a:ext cx="8386301" cy="110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8"/>
              </a:lnSpc>
              <a:spcBef>
                <a:spcPct val="0"/>
              </a:spcBef>
            </a:pPr>
            <a:r>
              <a:rPr lang="en-US" sz="7087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How It Works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872999" y="2255024"/>
            <a:ext cx="7034974" cy="110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8"/>
              </a:lnSpc>
              <a:spcBef>
                <a:spcPct val="0"/>
              </a:spcBef>
            </a:pPr>
            <a:r>
              <a:rPr lang="en-US" sz="7087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Process 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882831" y="4843504"/>
            <a:ext cx="8229600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31"/>
              </a:lnSpc>
            </a:pPr>
            <a:r>
              <a:rPr lang="en-US" sz="20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Face-Detection</a:t>
            </a: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/</a:t>
            </a:r>
          </a:p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├── haarcascade_frontalface_default.xml</a:t>
            </a:r>
          </a:p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├── face_</a:t>
            </a:r>
            <a:r>
              <a:rPr lang="en-US" sz="20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detect</a:t>
            </a: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.py</a:t>
            </a:r>
          </a:p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└── README.md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72999" y="7105341"/>
            <a:ext cx="8778240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haarcascade_frontalface_default.xml: pre-trained face classifier</a:t>
            </a:r>
          </a:p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face_detect.py: </a:t>
            </a:r>
            <a:r>
              <a:rPr lang="en-US" sz="24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main</a:t>
            </a: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Python script</a:t>
            </a:r>
          </a:p>
          <a:p>
            <a:pPr marL="0" lvl="0" indent="0" algn="l">
              <a:lnSpc>
                <a:spcPts val="2131"/>
              </a:lnSpc>
            </a:pPr>
            <a:r>
              <a:rPr lang="en-US" sz="1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README.md: project documentation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72999" y="3897862"/>
            <a:ext cx="8229600" cy="55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8"/>
              </a:lnSpc>
            </a:pPr>
            <a:r>
              <a:rPr lang="en-US" sz="3300" b="1" dirty="0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Folder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49193" y="6311902"/>
            <a:ext cx="8229600" cy="55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28"/>
              </a:lnSpc>
            </a:pPr>
            <a:r>
              <a:rPr lang="en-US" sz="3300" b="1" dirty="0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File Descriptions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72999" y="1178500"/>
            <a:ext cx="9326880" cy="110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8"/>
              </a:lnSpc>
              <a:spcBef>
                <a:spcPct val="0"/>
              </a:spcBef>
            </a:pPr>
            <a:r>
              <a:rPr lang="en-US" sz="7087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Project Structure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872999" y="2255024"/>
            <a:ext cx="9326880" cy="110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8"/>
              </a:lnSpc>
              <a:spcBef>
                <a:spcPct val="0"/>
              </a:spcBef>
            </a:pPr>
            <a:r>
              <a:rPr lang="en-US" sz="7087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and Key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495707" y="434340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git clone https://github.com/SW/Face-Detection.git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95707" y="361188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Step 1: Clone Repository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95707" y="6309360"/>
            <a:ext cx="8229600" cy="33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pip install opencv-python numpy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95707" y="557784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Step 2: Install Dependencies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5707" y="827532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cd Face-Detection</a:t>
            </a:r>
          </a:p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python face_detect.py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5707" y="754380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Step 3: Run the Project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95707" y="1197550"/>
            <a:ext cx="9326880" cy="97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9"/>
              </a:lnSpc>
              <a:spcBef>
                <a:spcPct val="0"/>
              </a:spcBef>
            </a:pPr>
            <a:r>
              <a:rPr lang="en-US" sz="6335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Installation &amp; Setup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95707" y="2159873"/>
            <a:ext cx="9326880" cy="971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59"/>
              </a:lnSpc>
              <a:spcBef>
                <a:spcPct val="0"/>
              </a:spcBef>
            </a:pPr>
            <a:r>
              <a:rPr lang="en-US" sz="6335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66738" y="1028700"/>
            <a:ext cx="6675228" cy="6462370"/>
            <a:chOff x="0" y="0"/>
            <a:chExt cx="6496901" cy="6289730"/>
          </a:xfrm>
        </p:grpSpPr>
        <p:sp>
          <p:nvSpPr>
            <p:cNvPr id="3" name="Freeform 3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105986" y="746344"/>
            <a:ext cx="6559091" cy="6349937"/>
            <a:chOff x="0" y="0"/>
            <a:chExt cx="6496901" cy="6289730"/>
          </a:xfrm>
        </p:grpSpPr>
        <p:sp>
          <p:nvSpPr>
            <p:cNvPr id="5" name="Freeform 5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blipFill>
              <a:blip r:embed="rId2"/>
              <a:stretch>
                <a:fillRect t="-1482" b="-148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66921" y="4684024"/>
            <a:ext cx="537073" cy="537073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665077" y="1178500"/>
            <a:ext cx="537073" cy="53707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3994" y="4098391"/>
            <a:ext cx="8503920" cy="862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42"/>
              </a:lnSpc>
            </a:pPr>
            <a:r>
              <a:rPr lang="en-US" sz="26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Detects faces in real time and draws a rectangle around each one.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63098" y="5689752"/>
            <a:ext cx="8503920" cy="13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42"/>
              </a:lnSpc>
            </a:pPr>
            <a:r>
              <a:rPr lang="en-US" sz="26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Green bounding boxes mark every face region with high accuracy and minimal latency.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3098" y="1197550"/>
            <a:ext cx="7897914" cy="1070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48"/>
              </a:lnSpc>
              <a:spcBef>
                <a:spcPct val="0"/>
              </a:spcBef>
            </a:pPr>
            <a:r>
              <a:rPr lang="en-US" sz="6857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Output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63098" y="2406125"/>
            <a:ext cx="7897914" cy="1070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48"/>
              </a:lnSpc>
              <a:spcBef>
                <a:spcPct val="0"/>
              </a:spcBef>
            </a:pPr>
            <a:r>
              <a:rPr lang="en-US" sz="6857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Demonstration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495707" y="425196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Monitor public spaces, detect intruders, and enhance security systems with automated face detection.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95707" y="352044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Security &amp; Surveillance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95707" y="640080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Automate attendance tracking in schools and offices, and enable secure device authentication.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95707" y="566928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Attendance &amp; Face Unlock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5707" y="841248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Real-time analysis of video feeds for crowd management, traffic monitoring, and smart city applications.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5707" y="768096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Video Monitoring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95707" y="1197550"/>
            <a:ext cx="9326880" cy="894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96"/>
              </a:lnSpc>
              <a:spcBef>
                <a:spcPct val="0"/>
              </a:spcBef>
            </a:pPr>
            <a:r>
              <a:rPr lang="en-US" sz="5837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Applications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95707" y="2159873"/>
            <a:ext cx="9326880" cy="894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96"/>
              </a:lnSpc>
              <a:spcBef>
                <a:spcPct val="0"/>
              </a:spcBef>
            </a:pPr>
            <a:r>
              <a:rPr lang="en-US" sz="5837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Real-World Uses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568268"/>
            <a:ext cx="537073" cy="53707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634439" y="670002"/>
            <a:ext cx="537073" cy="53707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5120" y="1699666"/>
            <a:ext cx="6561082" cy="5939915"/>
            <a:chOff x="0" y="0"/>
            <a:chExt cx="5580380" cy="5052060"/>
          </a:xfrm>
        </p:grpSpPr>
        <p:sp>
          <p:nvSpPr>
            <p:cNvPr id="12" name="Freeform 12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799632" y="1802489"/>
            <a:ext cx="6584458" cy="5961078"/>
            <a:chOff x="0" y="0"/>
            <a:chExt cx="5580380" cy="5052060"/>
          </a:xfrm>
        </p:grpSpPr>
        <p:sp>
          <p:nvSpPr>
            <p:cNvPr id="14" name="Freeform 14"/>
            <p:cNvSpPr/>
            <p:nvPr/>
          </p:nvSpPr>
          <p:spPr>
            <a:xfrm>
              <a:off x="-705" y="-225"/>
              <a:ext cx="5580557" cy="5052325"/>
            </a:xfrm>
            <a:custGeom>
              <a:avLst/>
              <a:gdLst/>
              <a:ahLst/>
              <a:cxnLst/>
              <a:rect l="l" t="t" r="r" b="b"/>
              <a:pathLst>
                <a:path w="5580557" h="5052325">
                  <a:moveTo>
                    <a:pt x="4709865" y="382495"/>
                  </a:moveTo>
                  <a:cubicBezTo>
                    <a:pt x="3938975" y="-21365"/>
                    <a:pt x="3222695" y="439645"/>
                    <a:pt x="2649925" y="439645"/>
                  </a:cubicBezTo>
                  <a:cubicBezTo>
                    <a:pt x="2205425" y="439645"/>
                    <a:pt x="1367225" y="-672875"/>
                    <a:pt x="366465" y="641575"/>
                  </a:cubicBezTo>
                  <a:cubicBezTo>
                    <a:pt x="-634295" y="1956025"/>
                    <a:pt x="612845" y="3193005"/>
                    <a:pt x="1734255" y="4273775"/>
                  </a:cubicBezTo>
                  <a:cubicBezTo>
                    <a:pt x="2855665" y="5354545"/>
                    <a:pt x="4379665" y="5336765"/>
                    <a:pt x="5259775" y="4052795"/>
                  </a:cubicBezTo>
                  <a:cubicBezTo>
                    <a:pt x="5854135" y="3186655"/>
                    <a:pt x="5595055" y="847315"/>
                    <a:pt x="4709865" y="382495"/>
                  </a:cubicBezTo>
                  <a:close/>
                </a:path>
              </a:pathLst>
            </a:custGeom>
            <a:blipFill>
              <a:blip r:embed="rId2"/>
              <a:stretch>
                <a:fillRect t="-5227" b="-52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8495707" y="434340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Add face recognition to identify individuals and store detected faces in a database for retrieval.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95707" y="361188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Face Recognition Integration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95707" y="630936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Improve detection accuracy by implementing advanced deep learning models like CNNs.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95707" y="557784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Deep Learning Models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95707" y="8275320"/>
            <a:ext cx="8229600" cy="692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27"/>
              </a:lnSpc>
            </a:pPr>
            <a:r>
              <a:rPr lang="en-US" sz="2200" b="1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Develop a user-friendly graphical interface for easier interaction and configuration options.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95707" y="7543800"/>
            <a:ext cx="8229600" cy="48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</a:pPr>
            <a:r>
              <a:rPr lang="en-US" sz="2900" b="1">
                <a:solidFill>
                  <a:srgbClr val="9C5F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GUI-Based Interface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95707" y="1188025"/>
            <a:ext cx="9326880" cy="78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96"/>
              </a:lnSpc>
              <a:spcBef>
                <a:spcPct val="0"/>
              </a:spcBef>
            </a:pPr>
            <a:r>
              <a:rPr lang="en-US" sz="5041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Future Enhancements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95707" y="2150348"/>
            <a:ext cx="9326880" cy="78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96"/>
              </a:lnSpc>
              <a:spcBef>
                <a:spcPct val="0"/>
              </a:spcBef>
            </a:pPr>
            <a:r>
              <a:rPr lang="en-US" sz="5041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and Improvements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9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66738" y="1028700"/>
            <a:ext cx="6675228" cy="6462370"/>
            <a:chOff x="0" y="0"/>
            <a:chExt cx="6496901" cy="6289730"/>
          </a:xfrm>
        </p:grpSpPr>
        <p:sp>
          <p:nvSpPr>
            <p:cNvPr id="3" name="Freeform 3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105986" y="746344"/>
            <a:ext cx="6559091" cy="6349937"/>
            <a:chOff x="0" y="0"/>
            <a:chExt cx="6496901" cy="6289730"/>
          </a:xfrm>
        </p:grpSpPr>
        <p:sp>
          <p:nvSpPr>
            <p:cNvPr id="5" name="Freeform 5"/>
            <p:cNvSpPr/>
            <p:nvPr/>
          </p:nvSpPr>
          <p:spPr>
            <a:xfrm>
              <a:off x="2110" y="9742"/>
              <a:ext cx="6459397" cy="6273348"/>
            </a:xfrm>
            <a:custGeom>
              <a:avLst/>
              <a:gdLst/>
              <a:ahLst/>
              <a:cxnLst/>
              <a:rect l="l" t="t" r="r" b="b"/>
              <a:pathLst>
                <a:path w="6459397" h="6273348">
                  <a:moveTo>
                    <a:pt x="4058269" y="159750"/>
                  </a:moveTo>
                  <a:cubicBezTo>
                    <a:pt x="5443192" y="346334"/>
                    <a:pt x="7085341" y="864781"/>
                    <a:pt x="6217511" y="3207762"/>
                  </a:cubicBezTo>
                  <a:cubicBezTo>
                    <a:pt x="5254406" y="5550744"/>
                    <a:pt x="3260352" y="5966641"/>
                    <a:pt x="2297247" y="6223016"/>
                  </a:cubicBezTo>
                  <a:cubicBezTo>
                    <a:pt x="1334143" y="6457788"/>
                    <a:pt x="202900" y="5869788"/>
                    <a:pt x="602596" y="4489637"/>
                  </a:cubicBezTo>
                  <a:cubicBezTo>
                    <a:pt x="952145" y="3281826"/>
                    <a:pt x="-82120" y="1763518"/>
                    <a:pt x="5264" y="769353"/>
                  </a:cubicBezTo>
                  <a:cubicBezTo>
                    <a:pt x="105557" y="-201512"/>
                    <a:pt x="2396065" y="-59272"/>
                    <a:pt x="4058269" y="159750"/>
                  </a:cubicBezTo>
                  <a:close/>
                </a:path>
              </a:pathLst>
            </a:custGeom>
            <a:blipFill>
              <a:blip r:embed="rId2"/>
              <a:stretch>
                <a:fillRect t="-1482" b="-148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566921" y="4684024"/>
            <a:ext cx="537073" cy="537073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665077" y="1178500"/>
            <a:ext cx="537073" cy="53707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8A47E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7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109230" y="4261478"/>
            <a:ext cx="8503920" cy="248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09"/>
              </a:lnSpc>
            </a:pPr>
            <a:r>
              <a:rPr lang="en-US" sz="2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 project efficiently implements real-time face detection using OpenCV, laying a foundation for advanced AI systems like face recognition and biometric authentication.</a:t>
            </a:r>
          </a:p>
          <a:p>
            <a:pPr marL="0" lvl="0" indent="0" algn="l">
              <a:lnSpc>
                <a:spcPts val="4009"/>
              </a:lnSpc>
            </a:pPr>
            <a:r>
              <a:rPr lang="en-US" sz="2900" b="1" dirty="0">
                <a:solidFill>
                  <a:srgbClr val="3B2A20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Thank you! Questions welcome.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63098" y="1207075"/>
            <a:ext cx="7897914" cy="122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91"/>
              </a:lnSpc>
              <a:spcBef>
                <a:spcPct val="0"/>
              </a:spcBef>
            </a:pPr>
            <a:r>
              <a:rPr lang="en-US" sz="7956" b="1">
                <a:solidFill>
                  <a:srgbClr val="3B2A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Conclusion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63098" y="2415650"/>
            <a:ext cx="7897914" cy="122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91"/>
              </a:lnSpc>
              <a:spcBef>
                <a:spcPct val="0"/>
              </a:spcBef>
            </a:pPr>
            <a:r>
              <a:rPr lang="en-US" sz="7956" b="1">
                <a:solidFill>
                  <a:srgbClr val="9C5F3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&amp;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498</Words>
  <Application>Microsoft Office PowerPoint</Application>
  <PresentationFormat>Custom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Poppins</vt:lpstr>
      <vt:lpstr>Calibri</vt:lpstr>
      <vt:lpstr>Open Sans Medium</vt:lpstr>
      <vt:lpstr>Poppins Semi-Bold</vt:lpstr>
      <vt:lpstr>Poppins Medium</vt:lpstr>
      <vt:lpstr>Poppins Ultra-Bold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Face Detection with OpenCV</dc:title>
  <cp:lastModifiedBy>Swathi Priya</cp:lastModifiedBy>
  <cp:revision>7</cp:revision>
  <dcterms:created xsi:type="dcterms:W3CDTF">2006-08-16T00:00:00Z</dcterms:created>
  <dcterms:modified xsi:type="dcterms:W3CDTF">2026-10-26T14:20:09Z</dcterms:modified>
  <dc:identifier>DAHIKQTgX-U</dc:identifier>
</cp:coreProperties>
</file>